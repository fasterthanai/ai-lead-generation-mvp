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656832"/>
            <a:ext cx="4297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E6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PRASUNETHON 2.0 • TEAM AVENGERS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647688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4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6476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4839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6476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4839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7A9E"/>
          </a:solidFill>
          <a:ln w="12700">
            <a:solidFill>
              <a:srgbClr val="0B7A9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12680" y="475488"/>
            <a:ext cx="1600200" cy="1600200"/>
          </a:xfrm>
          <a:prstGeom prst="ellipse">
            <a:avLst/>
          </a:prstGeom>
          <a:solidFill>
            <a:srgbClr val="E9F0F9"/>
          </a:solidFill>
          <a:ln w="12700">
            <a:solidFill>
              <a:srgbClr val="E9F0F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24160" y="896112"/>
            <a:ext cx="804672" cy="804672"/>
          </a:xfrm>
          <a:prstGeom prst="ellipse">
            <a:avLst/>
          </a:prstGeom>
          <a:solidFill>
            <a:srgbClr val="3B4FCB"/>
          </a:solidFill>
          <a:ln w="12700">
            <a:solidFill>
              <a:srgbClr val="3B4F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26880" y="1097280"/>
            <a:ext cx="384048" cy="384048"/>
          </a:xfrm>
          <a:prstGeom prst="ellipse">
            <a:avLst/>
          </a:prstGeom>
          <a:solidFill>
            <a:srgbClr val="0E8A5F"/>
          </a:solidFill>
          <a:ln w="12700">
            <a:solidFill>
              <a:srgbClr val="0E8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566928"/>
            <a:ext cx="2048256" cy="310896"/>
          </a:xfrm>
          <a:prstGeom prst="roundRect">
            <a:avLst>
              <a:gd name="adj" fmla="val 47059"/>
            </a:avLst>
          </a:prstGeom>
          <a:solidFill>
            <a:srgbClr val="0B7A9E">
              <a:alpha val="16000"/>
            </a:srgbClr>
          </a:solidFill>
          <a:ln w="12700">
            <a:solidFill>
              <a:srgbClr val="0B7A9E">
                <a:alpha val="6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576072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• IDEA SUBMISSION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66928" y="1353312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LeadGenAI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66928" y="2084832"/>
            <a:ext cx="75895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4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B2B Lead Discovery &amp;</a:t>
            </a:r>
            <a:endParaRPr lang="en-US" sz="2500" dirty="0"/>
          </a:p>
          <a:p>
            <a:pPr algn="l" indent="0" marL="0">
              <a:buNone/>
            </a:pPr>
            <a:r>
              <a:rPr lang="en-US" sz="2500" b="1" dirty="0">
                <a:solidFill>
                  <a:srgbClr val="24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Outreach Copilot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566928" y="3493008"/>
            <a:ext cx="7040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4E6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 campaign idea into researched, scored and personalized outreach — with human approval at every send.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66928" y="4681728"/>
            <a:ext cx="4663440" cy="941832"/>
          </a:xfrm>
          <a:prstGeom prst="roundRect">
            <a:avLst>
              <a:gd name="adj" fmla="val 17476"/>
            </a:avLst>
          </a:prstGeom>
          <a:solidFill>
            <a:srgbClr val="E9F0F9"/>
          </a:solidFill>
          <a:ln w="12700">
            <a:solidFill>
              <a:srgbClr val="D5E0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488289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AVENGERS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95528" y="5166360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 Gautam  •  Priyanshu Kumar  •  Sampath Kumar Midde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705088" y="515721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4E6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Prasunethon 2.0 • 2026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357616" y="554126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4E6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→ Solution → Architecture → Impact → Roadmap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228832" y="3474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E6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6476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4839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•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outreach is still too manual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21615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E6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the right prospect is only the beginning.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2587752" cy="1993392"/>
          </a:xfrm>
          <a:prstGeom prst="roundRect">
            <a:avLst>
              <a:gd name="adj" fmla="val 8257"/>
            </a:avLst>
          </a:prstGeom>
          <a:solidFill>
            <a:srgbClr val="F4F7FB"/>
          </a:solidFill>
          <a:ln w="12700">
            <a:solidFill>
              <a:srgbClr val="D5E0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084832"/>
            <a:ext cx="1115568" cy="310896"/>
          </a:xfrm>
          <a:prstGeom prst="roundRect">
            <a:avLst>
              <a:gd name="adj" fmla="val 47059"/>
            </a:avLst>
          </a:prstGeom>
          <a:solidFill>
            <a:srgbClr val="0B7A9E">
              <a:alpha val="16000"/>
            </a:srgbClr>
          </a:solidFill>
          <a:ln w="12700">
            <a:solidFill>
              <a:srgbClr val="0B7A9E">
                <a:alpha val="6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093976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" y="2587752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teams search business directories, websites and maps manually.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388620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E6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FRICTION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364992" y="1874520"/>
            <a:ext cx="2587752" cy="1993392"/>
          </a:xfrm>
          <a:prstGeom prst="roundRect">
            <a:avLst>
              <a:gd name="adj" fmla="val 8257"/>
            </a:avLst>
          </a:prstGeom>
          <a:solidFill>
            <a:srgbClr val="F4F7FB"/>
          </a:solidFill>
          <a:ln w="12700">
            <a:solidFill>
              <a:srgbClr val="D5E0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47872" y="2084832"/>
            <a:ext cx="1115568" cy="310896"/>
          </a:xfrm>
          <a:prstGeom prst="roundRect">
            <a:avLst>
              <a:gd name="adj" fmla="val 47059"/>
            </a:avLst>
          </a:prstGeom>
          <a:solidFill>
            <a:srgbClr val="B4661A">
              <a:alpha val="16000"/>
            </a:srgbClr>
          </a:solidFill>
          <a:ln w="12700">
            <a:solidFill>
              <a:srgbClr val="B4661A">
                <a:alpha val="6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39312" y="2093976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46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QUALIFICATION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547872" y="2587752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fit is often judged from incomplete or inconsistent signals.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47872" y="388620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E6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FRICTION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227064" y="1874520"/>
            <a:ext cx="2587752" cy="1993392"/>
          </a:xfrm>
          <a:prstGeom prst="roundRect">
            <a:avLst>
              <a:gd name="adj" fmla="val 8257"/>
            </a:avLst>
          </a:prstGeom>
          <a:solidFill>
            <a:srgbClr val="F4F7FB"/>
          </a:solidFill>
          <a:ln w="12700">
            <a:solidFill>
              <a:srgbClr val="D5E0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9944" y="2084832"/>
            <a:ext cx="1115568" cy="310896"/>
          </a:xfrm>
          <a:prstGeom prst="roundRect">
            <a:avLst>
              <a:gd name="adj" fmla="val 47059"/>
            </a:avLst>
          </a:prstGeom>
          <a:solidFill>
            <a:srgbClr val="0E8A5F">
              <a:alpha val="16000"/>
            </a:srgbClr>
          </a:solidFill>
          <a:ln w="12700">
            <a:solidFill>
              <a:srgbClr val="0E8A5F">
                <a:alpha val="6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01384" y="2093976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09944" y="2587752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a relevant first touch for every lead does not scale.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9944" y="388620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E6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FRICTION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9089136" y="1874520"/>
            <a:ext cx="2587752" cy="1993392"/>
          </a:xfrm>
          <a:prstGeom prst="roundRect">
            <a:avLst>
              <a:gd name="adj" fmla="val 8257"/>
            </a:avLst>
          </a:prstGeom>
          <a:solidFill>
            <a:srgbClr val="F4F7FB"/>
          </a:solidFill>
          <a:ln w="12700">
            <a:solidFill>
              <a:srgbClr val="D5E0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272016" y="2084832"/>
            <a:ext cx="1115568" cy="310896"/>
          </a:xfrm>
          <a:prstGeom prst="roundRect">
            <a:avLst>
              <a:gd name="adj" fmla="val 47059"/>
            </a:avLst>
          </a:prstGeom>
          <a:solidFill>
            <a:srgbClr val="3B4FCB">
              <a:alpha val="16000"/>
            </a:srgbClr>
          </a:solidFill>
          <a:ln w="12700">
            <a:solidFill>
              <a:srgbClr val="3B4FCB">
                <a:alpha val="6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63456" y="2093976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4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272016" y="2587752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handling and next actions are fragmented across tools.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272016" y="388620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E6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FRICTION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02920" y="4370832"/>
            <a:ext cx="11173968" cy="1344168"/>
          </a:xfrm>
          <a:prstGeom prst="roundRect">
            <a:avLst>
              <a:gd name="adj" fmla="val 12245"/>
            </a:avLst>
          </a:prstGeom>
          <a:solidFill>
            <a:srgbClr val="E9F0F9"/>
          </a:solidFill>
          <a:ln w="12700">
            <a:solidFill>
              <a:srgbClr val="D5E0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9808" y="45994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E3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49808" y="48463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need one workflow that connects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511296" y="4928616"/>
            <a:ext cx="5943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+ research + scoring + personalization + approval + analytics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454896" y="4928616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4E6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losing human control over communication.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1228832" y="3474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E6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6476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4839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• PROPOSED SOLUTION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AI workspace from campaign idea to approved outreach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21615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E6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modular, explainable workflow for B2B prospecting.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30352" y="1874520"/>
            <a:ext cx="438912" cy="438912"/>
          </a:xfrm>
          <a:prstGeom prst="ellipse">
            <a:avLst/>
          </a:prstGeom>
          <a:solidFill>
            <a:srgbClr val="0B7A9E"/>
          </a:solidFill>
          <a:ln w="12700">
            <a:solidFill>
              <a:srgbClr val="0B7A9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929384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12064" y="2478024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Brief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12064" y="2852928"/>
            <a:ext cx="19933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4E6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offer, industry, location and target role.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33272" y="2084832"/>
            <a:ext cx="1609344" cy="0"/>
          </a:xfrm>
          <a:prstGeom prst="line">
            <a:avLst/>
          </a:prstGeom>
          <a:noFill/>
          <a:ln w="25400">
            <a:solidFill>
              <a:srgbClr val="D5E0EE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2788920" y="1874520"/>
            <a:ext cx="438912" cy="438912"/>
          </a:xfrm>
          <a:prstGeom prst="ellipse">
            <a:avLst/>
          </a:prstGeom>
          <a:solidFill>
            <a:srgbClr val="3B4FCB"/>
          </a:solidFill>
          <a:ln w="12700">
            <a:solidFill>
              <a:srgbClr val="3B4F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88920" y="1929384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70632" y="2478024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Discovery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770632" y="2852928"/>
            <a:ext cx="19933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4E6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public business/contact signals from reviewed sources.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91840" y="2084832"/>
            <a:ext cx="1609344" cy="0"/>
          </a:xfrm>
          <a:prstGeom prst="line">
            <a:avLst/>
          </a:prstGeom>
          <a:noFill/>
          <a:ln w="25400">
            <a:solidFill>
              <a:srgbClr val="D5E0EE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5047488" y="1874520"/>
            <a:ext cx="438912" cy="438912"/>
          </a:xfrm>
          <a:prstGeom prst="ellipse">
            <a:avLst/>
          </a:prstGeom>
          <a:solidFill>
            <a:srgbClr val="3B4FCB"/>
          </a:solidFill>
          <a:ln w="12700">
            <a:solidFill>
              <a:srgbClr val="3B4F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47488" y="1929384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0" y="2478024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Research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0" y="2852928"/>
            <a:ext cx="19933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4E6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company context, fit, pain points and risk flags.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550408" y="2084832"/>
            <a:ext cx="1609344" cy="0"/>
          </a:xfrm>
          <a:prstGeom prst="line">
            <a:avLst/>
          </a:prstGeom>
          <a:noFill/>
          <a:ln w="25400">
            <a:solidFill>
              <a:srgbClr val="D5E0EE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7306056" y="1874520"/>
            <a:ext cx="438912" cy="438912"/>
          </a:xfrm>
          <a:prstGeom prst="ellipse">
            <a:avLst/>
          </a:prstGeom>
          <a:solidFill>
            <a:srgbClr val="3B4FCB"/>
          </a:solidFill>
          <a:ln w="12700">
            <a:solidFill>
              <a:srgbClr val="3B4FC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06056" y="1929384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287768" y="2478024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+ Draft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287768" y="2852928"/>
            <a:ext cx="19933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4E6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leads and generate evidence-backed email/call drafts.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808976" y="2084832"/>
            <a:ext cx="1609344" cy="0"/>
          </a:xfrm>
          <a:prstGeom prst="line">
            <a:avLst/>
          </a:prstGeom>
          <a:noFill/>
          <a:ln w="25400">
            <a:solidFill>
              <a:srgbClr val="D5E0EE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9564624" y="1874520"/>
            <a:ext cx="438912" cy="438912"/>
          </a:xfrm>
          <a:prstGeom prst="ellipse">
            <a:avLst/>
          </a:prstGeom>
          <a:solidFill>
            <a:srgbClr val="3B4FCB"/>
          </a:solidFill>
          <a:ln w="12700">
            <a:solidFill>
              <a:srgbClr val="3B4FC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564624" y="1929384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546336" y="2478024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Approval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546336" y="2852928"/>
            <a:ext cx="19933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4E6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Approve, edit, reject or hold before any outbound action.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30352" y="4315968"/>
            <a:ext cx="11064240" cy="1252728"/>
          </a:xfrm>
          <a:prstGeom prst="roundRect">
            <a:avLst>
              <a:gd name="adj" fmla="val 13139"/>
            </a:avLst>
          </a:prstGeom>
          <a:solidFill>
            <a:srgbClr val="F4F7FB"/>
          </a:solidFill>
          <a:ln w="12700">
            <a:solidFill>
              <a:srgbClr val="D5E0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8952" y="455371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PRINCIPLE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58952" y="4901184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F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accelerates research and drafting — humans stay in control of every sent message.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758952" y="5276088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4E6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SMEs, startups, agencies and lean sales teams.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1228832" y="3474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E6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6476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4839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• WORKFLOW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LeadGenAI works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21615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E6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workflow turns messy prospecting into a traceable pipeline.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93192" y="2743200"/>
            <a:ext cx="1426464" cy="1115568"/>
          </a:xfrm>
          <a:prstGeom prst="roundRect">
            <a:avLst>
              <a:gd name="adj" fmla="val 11475"/>
            </a:avLst>
          </a:prstGeom>
          <a:solidFill>
            <a:srgbClr val="F4F7FB"/>
          </a:solidFill>
          <a:ln w="12700">
            <a:solidFill>
              <a:srgbClr val="D5E0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2852928"/>
            <a:ext cx="219456" cy="219456"/>
          </a:xfrm>
          <a:prstGeom prst="ellipse">
            <a:avLst/>
          </a:prstGeom>
          <a:solidFill>
            <a:srgbClr val="3B4FCB"/>
          </a:solidFill>
          <a:ln w="12700">
            <a:solidFill>
              <a:srgbClr val="3B4F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875788"/>
            <a:ext cx="2194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2920" y="319125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347472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4E6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+ audience + geo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837944" y="3291840"/>
            <a:ext cx="192024" cy="0"/>
          </a:xfrm>
          <a:prstGeom prst="line">
            <a:avLst/>
          </a:prstGeom>
          <a:noFill/>
          <a:ln w="25400">
            <a:solidFill>
              <a:srgbClr val="0B7A9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75688" y="2743200"/>
            <a:ext cx="1426464" cy="1115568"/>
          </a:xfrm>
          <a:prstGeom prst="roundRect">
            <a:avLst>
              <a:gd name="adj" fmla="val 11475"/>
            </a:avLst>
          </a:prstGeom>
          <a:solidFill>
            <a:srgbClr val="F4F7FB"/>
          </a:solidFill>
          <a:ln w="12700">
            <a:solidFill>
              <a:srgbClr val="D5E0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85416" y="2852928"/>
            <a:ext cx="219456" cy="219456"/>
          </a:xfrm>
          <a:prstGeom prst="ellipse">
            <a:avLst/>
          </a:prstGeom>
          <a:solidFill>
            <a:srgbClr val="3B4FCB"/>
          </a:solidFill>
          <a:ln w="12700">
            <a:solidFill>
              <a:srgbClr val="3B4F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85416" y="2875788"/>
            <a:ext cx="2194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185416" y="319125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85416" y="347472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4E6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/ public web / CSV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520440" y="3291840"/>
            <a:ext cx="192024" cy="0"/>
          </a:xfrm>
          <a:prstGeom prst="line">
            <a:avLst/>
          </a:prstGeom>
          <a:noFill/>
          <a:ln w="25400">
            <a:solidFill>
              <a:srgbClr val="0B7A9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58184" y="2743200"/>
            <a:ext cx="1426464" cy="1115568"/>
          </a:xfrm>
          <a:prstGeom prst="roundRect">
            <a:avLst>
              <a:gd name="adj" fmla="val 11475"/>
            </a:avLst>
          </a:prstGeom>
          <a:solidFill>
            <a:srgbClr val="F4F7FB"/>
          </a:solidFill>
          <a:ln w="12700">
            <a:solidFill>
              <a:srgbClr val="D5E0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67912" y="2852928"/>
            <a:ext cx="219456" cy="219456"/>
          </a:xfrm>
          <a:prstGeom prst="ellipse">
            <a:avLst/>
          </a:prstGeom>
          <a:solidFill>
            <a:srgbClr val="3B4FCB"/>
          </a:solidFill>
          <a:ln w="12700">
            <a:solidFill>
              <a:srgbClr val="3B4F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67912" y="2875788"/>
            <a:ext cx="2194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867912" y="319125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867912" y="347472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4E6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context + signals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202936" y="3291840"/>
            <a:ext cx="192024" cy="0"/>
          </a:xfrm>
          <a:prstGeom prst="line">
            <a:avLst/>
          </a:prstGeom>
          <a:noFill/>
          <a:ln w="25400">
            <a:solidFill>
              <a:srgbClr val="0B7A9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40680" y="2743200"/>
            <a:ext cx="1426464" cy="1115568"/>
          </a:xfrm>
          <a:prstGeom prst="roundRect">
            <a:avLst>
              <a:gd name="adj" fmla="val 11475"/>
            </a:avLst>
          </a:prstGeom>
          <a:solidFill>
            <a:srgbClr val="F4F7FB"/>
          </a:solidFill>
          <a:ln w="12700">
            <a:solidFill>
              <a:srgbClr val="D5E0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550408" y="2852928"/>
            <a:ext cx="219456" cy="219456"/>
          </a:xfrm>
          <a:prstGeom prst="ellipse">
            <a:avLst/>
          </a:prstGeom>
          <a:solidFill>
            <a:srgbClr val="3B4FCB"/>
          </a:solidFill>
          <a:ln w="12700">
            <a:solidFill>
              <a:srgbClr val="3B4FC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50408" y="2875788"/>
            <a:ext cx="2194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550408" y="319125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550408" y="347472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4E6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+ priority + rationale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885432" y="3291840"/>
            <a:ext cx="192024" cy="0"/>
          </a:xfrm>
          <a:prstGeom prst="line">
            <a:avLst/>
          </a:prstGeom>
          <a:noFill/>
          <a:ln w="25400">
            <a:solidFill>
              <a:srgbClr val="0B7A9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123176" y="2743200"/>
            <a:ext cx="1426464" cy="1115568"/>
          </a:xfrm>
          <a:prstGeom prst="roundRect">
            <a:avLst>
              <a:gd name="adj" fmla="val 11475"/>
            </a:avLst>
          </a:prstGeom>
          <a:solidFill>
            <a:srgbClr val="F4F7FB"/>
          </a:solidFill>
          <a:ln w="12700">
            <a:solidFill>
              <a:srgbClr val="D5E0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32904" y="2852928"/>
            <a:ext cx="219456" cy="219456"/>
          </a:xfrm>
          <a:prstGeom prst="ellipse">
            <a:avLst/>
          </a:prstGeom>
          <a:solidFill>
            <a:srgbClr val="3B4FCB"/>
          </a:solidFill>
          <a:ln w="12700">
            <a:solidFill>
              <a:srgbClr val="3B4FC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32904" y="2875788"/>
            <a:ext cx="2194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232904" y="319125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232904" y="347472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4E6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/ call / follow-up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8567928" y="3291840"/>
            <a:ext cx="192024" cy="0"/>
          </a:xfrm>
          <a:prstGeom prst="line">
            <a:avLst/>
          </a:prstGeom>
          <a:noFill/>
          <a:ln w="25400">
            <a:solidFill>
              <a:srgbClr val="0B7A9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805672" y="2743200"/>
            <a:ext cx="1426464" cy="1115568"/>
          </a:xfrm>
          <a:prstGeom prst="roundRect">
            <a:avLst>
              <a:gd name="adj" fmla="val 11475"/>
            </a:avLst>
          </a:prstGeom>
          <a:solidFill>
            <a:srgbClr val="E9F0F9"/>
          </a:solidFill>
          <a:ln w="12700">
            <a:solidFill>
              <a:srgbClr val="0E8A5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915400" y="2852928"/>
            <a:ext cx="219456" cy="219456"/>
          </a:xfrm>
          <a:prstGeom prst="ellipse">
            <a:avLst/>
          </a:prstGeom>
          <a:solidFill>
            <a:srgbClr val="0E8A5F"/>
          </a:solidFill>
          <a:ln w="12700">
            <a:solidFill>
              <a:srgbClr val="0E8A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915400" y="2875788"/>
            <a:ext cx="2194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8915400" y="319125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915400" y="347472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4E6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before send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10250424" y="3291840"/>
            <a:ext cx="192024" cy="0"/>
          </a:xfrm>
          <a:prstGeom prst="line">
            <a:avLst/>
          </a:prstGeom>
          <a:noFill/>
          <a:ln w="25400">
            <a:solidFill>
              <a:srgbClr val="0B7A9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488168" y="2743200"/>
            <a:ext cx="1426464" cy="1115568"/>
          </a:xfrm>
          <a:prstGeom prst="roundRect">
            <a:avLst>
              <a:gd name="adj" fmla="val 11475"/>
            </a:avLst>
          </a:prstGeom>
          <a:solidFill>
            <a:srgbClr val="F4F7FB"/>
          </a:solidFill>
          <a:ln w="12700">
            <a:solidFill>
              <a:srgbClr val="D5E0E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597896" y="2852928"/>
            <a:ext cx="219456" cy="219456"/>
          </a:xfrm>
          <a:prstGeom prst="ellipse">
            <a:avLst/>
          </a:prstGeom>
          <a:solidFill>
            <a:srgbClr val="3B4FCB"/>
          </a:solidFill>
          <a:ln w="12700">
            <a:solidFill>
              <a:srgbClr val="3B4FC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597896" y="2875788"/>
            <a:ext cx="2194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0597896" y="319125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0597896" y="347472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4E6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+ feedback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30352" y="4636008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decision can carry its source context, reason and confidence into the next step.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2331720" y="5257800"/>
            <a:ext cx="7543800" cy="530352"/>
          </a:xfrm>
          <a:prstGeom prst="roundRect">
            <a:avLst>
              <a:gd name="adj" fmla="val 27586"/>
            </a:avLst>
          </a:prstGeom>
          <a:solidFill>
            <a:srgbClr val="E9F0F9"/>
          </a:solidFill>
          <a:ln w="12700">
            <a:solidFill>
              <a:srgbClr val="D5E0E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487168" y="5404104"/>
            <a:ext cx="7223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BY DESIGN  •  NO AUTO-SEND  •  PUBLIC DATA ONLY  •  REVIEWABLE OUTPUTS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1228832" y="3474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E6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6476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4839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• KEY FEATURES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product, seven practical capabilities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21615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E6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 features that solve the full outreach loop.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30352" y="1737360"/>
            <a:ext cx="5212080" cy="1042416"/>
          </a:xfrm>
          <a:prstGeom prst="roundRect">
            <a:avLst>
              <a:gd name="adj" fmla="val 14035"/>
            </a:avLst>
          </a:prstGeom>
          <a:solidFill>
            <a:srgbClr val="F4F7FB"/>
          </a:solidFill>
          <a:ln w="12700">
            <a:solidFill>
              <a:srgbClr val="D5E0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938528"/>
            <a:ext cx="246888" cy="246888"/>
          </a:xfrm>
          <a:prstGeom prst="ellipse">
            <a:avLst/>
          </a:prstGeom>
          <a:solidFill>
            <a:srgbClr val="0B7A9E"/>
          </a:solidFill>
          <a:ln w="12700">
            <a:solidFill>
              <a:srgbClr val="0B7A9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892808"/>
            <a:ext cx="4251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Campaign Generator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2194560"/>
            <a:ext cx="43159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4E6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 rough outreach goal into audience, pain points, channels and search terms.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126480" y="1737360"/>
            <a:ext cx="5212080" cy="1042416"/>
          </a:xfrm>
          <a:prstGeom prst="roundRect">
            <a:avLst>
              <a:gd name="adj" fmla="val 14035"/>
            </a:avLst>
          </a:prstGeom>
          <a:solidFill>
            <a:srgbClr val="F4F7FB"/>
          </a:solidFill>
          <a:ln w="12700">
            <a:solidFill>
              <a:srgbClr val="D5E0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0" y="1938528"/>
            <a:ext cx="246888" cy="246888"/>
          </a:xfrm>
          <a:prstGeom prst="ellipse">
            <a:avLst/>
          </a:prstGeom>
          <a:solidFill>
            <a:srgbClr val="3B4FCB"/>
          </a:solidFill>
          <a:ln w="12700">
            <a:solidFill>
              <a:srgbClr val="3B4F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93408" y="1892808"/>
            <a:ext cx="4251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Discovery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93408" y="2194560"/>
            <a:ext cx="43159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4E6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public business/contact signals from user-reviewed source URLs or business listings.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30352" y="2907792"/>
            <a:ext cx="5212080" cy="1042416"/>
          </a:xfrm>
          <a:prstGeom prst="roundRect">
            <a:avLst>
              <a:gd name="adj" fmla="val 14035"/>
            </a:avLst>
          </a:prstGeom>
          <a:solidFill>
            <a:srgbClr val="F4F7FB"/>
          </a:solidFill>
          <a:ln w="12700">
            <a:solidFill>
              <a:srgbClr val="D5E0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3232" y="3108960"/>
            <a:ext cx="246888" cy="246888"/>
          </a:xfrm>
          <a:prstGeom prst="ellipse">
            <a:avLst/>
          </a:prstGeom>
          <a:solidFill>
            <a:srgbClr val="0E8A5F"/>
          </a:solidFill>
          <a:ln w="12700">
            <a:solidFill>
              <a:srgbClr val="0E8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3063240"/>
            <a:ext cx="4251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Enrichment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7280" y="3364992"/>
            <a:ext cx="43159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4E6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concise company profile with fit, pain points, use case and risk flags.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26480" y="2907792"/>
            <a:ext cx="5212080" cy="1042416"/>
          </a:xfrm>
          <a:prstGeom prst="roundRect">
            <a:avLst>
              <a:gd name="adj" fmla="val 14035"/>
            </a:avLst>
          </a:prstGeom>
          <a:solidFill>
            <a:srgbClr val="F4F7FB"/>
          </a:solidFill>
          <a:ln w="12700">
            <a:solidFill>
              <a:srgbClr val="D5E0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3108960"/>
            <a:ext cx="246888" cy="246888"/>
          </a:xfrm>
          <a:prstGeom prst="ellipse">
            <a:avLst/>
          </a:prstGeom>
          <a:solidFill>
            <a:srgbClr val="B4661A"/>
          </a:solidFill>
          <a:ln w="12700">
            <a:solidFill>
              <a:srgbClr val="B466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93408" y="3063240"/>
            <a:ext cx="4251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Lead Scoring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93408" y="3364992"/>
            <a:ext cx="43159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4E6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prospects with a score plus the reasoning behind the score.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30352" y="4078224"/>
            <a:ext cx="5212080" cy="1042416"/>
          </a:xfrm>
          <a:prstGeom prst="roundRect">
            <a:avLst>
              <a:gd name="adj" fmla="val 14035"/>
            </a:avLst>
          </a:prstGeom>
          <a:solidFill>
            <a:srgbClr val="F4F7FB"/>
          </a:solidFill>
          <a:ln w="12700">
            <a:solidFill>
              <a:srgbClr val="D5E0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3232" y="4279392"/>
            <a:ext cx="246888" cy="246888"/>
          </a:xfrm>
          <a:prstGeom prst="ellipse">
            <a:avLst/>
          </a:prstGeom>
          <a:solidFill>
            <a:srgbClr val="CE3D5E"/>
          </a:solidFill>
          <a:ln w="12700">
            <a:solidFill>
              <a:srgbClr val="CE3D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7280" y="4233672"/>
            <a:ext cx="4251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Outreach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97280" y="4535424"/>
            <a:ext cx="43159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4E6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company-aware email, call and follow-up drafts using approved knowledge.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26480" y="4078224"/>
            <a:ext cx="5212080" cy="1042416"/>
          </a:xfrm>
          <a:prstGeom prst="roundRect">
            <a:avLst>
              <a:gd name="adj" fmla="val 14035"/>
            </a:avLst>
          </a:prstGeom>
          <a:solidFill>
            <a:srgbClr val="F4F7FB"/>
          </a:solidFill>
          <a:ln w="12700">
            <a:solidFill>
              <a:srgbClr val="D5E0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09360" y="4279392"/>
            <a:ext cx="246888" cy="246888"/>
          </a:xfrm>
          <a:prstGeom prst="ellipse">
            <a:avLst/>
          </a:prstGeom>
          <a:solidFill>
            <a:srgbClr val="0B7A9E"/>
          </a:solidFill>
          <a:ln w="12700">
            <a:solidFill>
              <a:srgbClr val="0B7A9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93408" y="4233672"/>
            <a:ext cx="4251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Knowledge-Grounded AI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693408" y="4535424"/>
            <a:ext cx="43159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4E6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PDF/DOCX/MD docs; hybrid semantic + keyword retrieval grounds drafts.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30352" y="5248656"/>
            <a:ext cx="5212080" cy="1042416"/>
          </a:xfrm>
          <a:prstGeom prst="roundRect">
            <a:avLst>
              <a:gd name="adj" fmla="val 14035"/>
            </a:avLst>
          </a:prstGeom>
          <a:solidFill>
            <a:srgbClr val="F4F7FB"/>
          </a:solidFill>
          <a:ln w="12700">
            <a:solidFill>
              <a:srgbClr val="D5E0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13232" y="5449824"/>
            <a:ext cx="246888" cy="246888"/>
          </a:xfrm>
          <a:prstGeom prst="ellipse">
            <a:avLst/>
          </a:prstGeom>
          <a:solidFill>
            <a:srgbClr val="0E8A5F"/>
          </a:solidFill>
          <a:ln w="12700">
            <a:solidFill>
              <a:srgbClr val="0E8A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97280" y="5404104"/>
            <a:ext cx="4251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Handling &amp; Analytics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97280" y="5705856"/>
            <a:ext cx="43159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4E6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replies by intent, draft responses and track outcomes end to end.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228832" y="3474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E6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6476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4839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• DIFFERENTIATION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more than a generic AI email tool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21615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E6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innovation is in the system around the model.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11045952" cy="640080"/>
          </a:xfrm>
          <a:prstGeom prst="roundRect">
            <a:avLst>
              <a:gd name="adj" fmla="val 20000"/>
            </a:avLst>
          </a:prstGeom>
          <a:solidFill>
            <a:srgbClr val="F4F7FB"/>
          </a:solidFill>
          <a:ln w="12700">
            <a:solidFill>
              <a:srgbClr val="D5E0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8096" y="1956816"/>
            <a:ext cx="256032" cy="256032"/>
          </a:xfrm>
          <a:prstGeom prst="ellipse">
            <a:avLst/>
          </a:prstGeom>
          <a:solidFill>
            <a:srgbClr val="0B7A9E"/>
          </a:solidFill>
          <a:ln w="12700">
            <a:solidFill>
              <a:srgbClr val="0B7A9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70432" y="1911096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Evidence-backed scoring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24528" y="1911096"/>
            <a:ext cx="6903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24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priority decision includes rationale and context.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11045952" cy="640080"/>
          </a:xfrm>
          <a:prstGeom prst="roundRect">
            <a:avLst>
              <a:gd name="adj" fmla="val 20000"/>
            </a:avLst>
          </a:prstGeom>
          <a:solidFill>
            <a:srgbClr val="F4F7FB"/>
          </a:solidFill>
          <a:ln w="12700">
            <a:solidFill>
              <a:srgbClr val="D5E0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8096" y="2788920"/>
            <a:ext cx="256032" cy="256032"/>
          </a:xfrm>
          <a:prstGeom prst="ellipse">
            <a:avLst/>
          </a:prstGeom>
          <a:solidFill>
            <a:srgbClr val="0E8A5F"/>
          </a:solidFill>
          <a:ln w="12700">
            <a:solidFill>
              <a:srgbClr val="0E8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2743200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personalization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24528" y="2743200"/>
            <a:ext cx="6903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24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use retrieved company facts instead of generic templates.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" y="3447288"/>
            <a:ext cx="11045952" cy="640080"/>
          </a:xfrm>
          <a:prstGeom prst="roundRect">
            <a:avLst>
              <a:gd name="adj" fmla="val 20000"/>
            </a:avLst>
          </a:prstGeom>
          <a:solidFill>
            <a:srgbClr val="F4F7FB"/>
          </a:solidFill>
          <a:ln w="12700">
            <a:solidFill>
              <a:srgbClr val="D5E0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8096" y="3621024"/>
            <a:ext cx="256032" cy="256032"/>
          </a:xfrm>
          <a:prstGeom prst="ellipse">
            <a:avLst/>
          </a:prstGeom>
          <a:solidFill>
            <a:srgbClr val="3B4FCB"/>
          </a:solidFill>
          <a:ln w="12700">
            <a:solidFill>
              <a:srgbClr val="3B4FC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3575304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+ outreach in one loop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224528" y="3575304"/>
            <a:ext cx="6903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24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move from source → research → score → draft without data hopping.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6928" y="4279392"/>
            <a:ext cx="11045952" cy="640080"/>
          </a:xfrm>
          <a:prstGeom prst="roundRect">
            <a:avLst>
              <a:gd name="adj" fmla="val 20000"/>
            </a:avLst>
          </a:prstGeom>
          <a:solidFill>
            <a:srgbClr val="F4F7FB"/>
          </a:solidFill>
          <a:ln w="12700">
            <a:solidFill>
              <a:srgbClr val="D5E0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8096" y="4453128"/>
            <a:ext cx="256032" cy="256032"/>
          </a:xfrm>
          <a:prstGeom prst="ellipse">
            <a:avLst/>
          </a:prstGeom>
          <a:solidFill>
            <a:srgbClr val="B4661A"/>
          </a:solidFill>
          <a:ln w="12700">
            <a:solidFill>
              <a:srgbClr val="B466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70432" y="4407408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approval gates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224528" y="4407408"/>
            <a:ext cx="6903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24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recommends; the user decides what actually gets sent.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66928" y="5111496"/>
            <a:ext cx="11045952" cy="640080"/>
          </a:xfrm>
          <a:prstGeom prst="roundRect">
            <a:avLst>
              <a:gd name="adj" fmla="val 20000"/>
            </a:avLst>
          </a:prstGeom>
          <a:solidFill>
            <a:srgbClr val="F4F7FB"/>
          </a:solidFill>
          <a:ln w="12700">
            <a:solidFill>
              <a:srgbClr val="D5E0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" y="5285232"/>
            <a:ext cx="256032" cy="256032"/>
          </a:xfrm>
          <a:prstGeom prst="ellipse">
            <a:avLst/>
          </a:prstGeom>
          <a:solidFill>
            <a:srgbClr val="CE3D5E"/>
          </a:solidFill>
          <a:ln w="12700">
            <a:solidFill>
              <a:srgbClr val="CE3D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70432" y="5239512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company memory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224528" y="5239512"/>
            <a:ext cx="6903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24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stays available for pricing, product and objection-aware outreach.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66928" y="5971032"/>
            <a:ext cx="11045952" cy="384048"/>
          </a:xfrm>
          <a:prstGeom prst="roundRect">
            <a:avLst>
              <a:gd name="adj" fmla="val 28571"/>
            </a:avLst>
          </a:prstGeom>
          <a:solidFill>
            <a:srgbClr val="E9F0F9"/>
          </a:solidFill>
          <a:ln w="12700">
            <a:solidFill>
              <a:srgbClr val="D5E0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8096" y="6071616"/>
            <a:ext cx="10652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TO SCALE FROM A 1-PERSON FOUNDER TO A SALES TEAM WITH SHARED CAMPAIGNS, KNOWLEDGE AND ANALYTICS.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1228832" y="3474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E6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6476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4839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• TECHNOLOGY &amp; 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architecture with clear boundaries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21615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E6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web stack + modular AI services + controlled integrations.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30352" y="1764792"/>
            <a:ext cx="11064240" cy="822960"/>
          </a:xfrm>
          <a:prstGeom prst="roundRect">
            <a:avLst>
              <a:gd name="adj" fmla="val 15556"/>
            </a:avLst>
          </a:prstGeom>
          <a:solidFill>
            <a:srgbClr val="F4F7FB"/>
          </a:solidFill>
          <a:ln w="12700">
            <a:solidFill>
              <a:srgbClr val="D5E0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901952"/>
            <a:ext cx="1645920" cy="310896"/>
          </a:xfrm>
          <a:prstGeom prst="roundRect">
            <a:avLst>
              <a:gd name="adj" fmla="val 47059"/>
            </a:avLst>
          </a:prstGeom>
          <a:solidFill>
            <a:srgbClr val="0B7A9E">
              <a:alpha val="16000"/>
            </a:srgbClr>
          </a:solidFill>
          <a:ln w="12700">
            <a:solidFill>
              <a:srgbClr val="0B7A9E">
                <a:alpha val="6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9110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LAYER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606040" y="1993392"/>
            <a:ext cx="8549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Vite  •  Tailwind CSS 4  •  Campaign / Lead / Analytics UI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788920"/>
            <a:ext cx="11064240" cy="822960"/>
          </a:xfrm>
          <a:prstGeom prst="roundRect">
            <a:avLst>
              <a:gd name="adj" fmla="val 15556"/>
            </a:avLst>
          </a:prstGeom>
          <a:solidFill>
            <a:srgbClr val="F4F7FB"/>
          </a:solidFill>
          <a:ln w="12700">
            <a:solidFill>
              <a:srgbClr val="D5E0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926080"/>
            <a:ext cx="1645920" cy="310896"/>
          </a:xfrm>
          <a:prstGeom prst="roundRect">
            <a:avLst>
              <a:gd name="adj" fmla="val 47059"/>
            </a:avLst>
          </a:prstGeom>
          <a:solidFill>
            <a:srgbClr val="3B4FCB">
              <a:alpha val="16000"/>
            </a:srgbClr>
          </a:solidFill>
          <a:ln w="12700">
            <a:solidFill>
              <a:srgbClr val="3B4FCB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9352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4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606040" y="3017520"/>
            <a:ext cx="8549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 •  SQLAlchemy  •  SQLite dev → Supabase Postgres  •  REST APIs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30352" y="3813048"/>
            <a:ext cx="11064240" cy="822960"/>
          </a:xfrm>
          <a:prstGeom prst="roundRect">
            <a:avLst>
              <a:gd name="adj" fmla="val 15556"/>
            </a:avLst>
          </a:prstGeom>
          <a:solidFill>
            <a:srgbClr val="F4F7FB"/>
          </a:solidFill>
          <a:ln w="12700">
            <a:solidFill>
              <a:srgbClr val="D5E0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3950208"/>
            <a:ext cx="1645920" cy="310896"/>
          </a:xfrm>
          <a:prstGeom prst="roundRect">
            <a:avLst>
              <a:gd name="adj" fmla="val 47059"/>
            </a:avLst>
          </a:prstGeom>
          <a:solidFill>
            <a:srgbClr val="0E8A5F">
              <a:alpha val="16000"/>
            </a:srgbClr>
          </a:solidFill>
          <a:ln w="12700">
            <a:solidFill>
              <a:srgbClr val="0E8A5F">
                <a:alpha val="6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9593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LAYER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606040" y="4041648"/>
            <a:ext cx="8549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  •  3072-d embeddings  •  Hybrid semantic + keyword RAG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30352" y="4837176"/>
            <a:ext cx="11064240" cy="822960"/>
          </a:xfrm>
          <a:prstGeom prst="roundRect">
            <a:avLst>
              <a:gd name="adj" fmla="val 15556"/>
            </a:avLst>
          </a:prstGeom>
          <a:solidFill>
            <a:srgbClr val="F4F7FB"/>
          </a:solidFill>
          <a:ln w="12700">
            <a:solidFill>
              <a:srgbClr val="D5E0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4974336"/>
            <a:ext cx="1645920" cy="310896"/>
          </a:xfrm>
          <a:prstGeom prst="roundRect">
            <a:avLst>
              <a:gd name="adj" fmla="val 47059"/>
            </a:avLst>
          </a:prstGeom>
          <a:solidFill>
            <a:srgbClr val="B4661A">
              <a:alpha val="16000"/>
            </a:srgbClr>
          </a:solidFill>
          <a:ln w="12700">
            <a:solidFill>
              <a:srgbClr val="B4661A">
                <a:alpha val="6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9834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46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LAYER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606040" y="5065776"/>
            <a:ext cx="8549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+ Apify Maps sourcing  •  Public-site scraping  •  Gmail OAuth API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852160" y="2596896"/>
            <a:ext cx="0" cy="164592"/>
          </a:xfrm>
          <a:prstGeom prst="line">
            <a:avLst/>
          </a:prstGeom>
          <a:noFill/>
          <a:ln w="25400">
            <a:solidFill>
              <a:srgbClr val="D5E0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52160" y="3621024"/>
            <a:ext cx="0" cy="164592"/>
          </a:xfrm>
          <a:prstGeom prst="line">
            <a:avLst/>
          </a:prstGeom>
          <a:noFill/>
          <a:ln w="25400">
            <a:solidFill>
              <a:srgbClr val="D5E0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52160" y="4645152"/>
            <a:ext cx="0" cy="164592"/>
          </a:xfrm>
          <a:prstGeom prst="line">
            <a:avLst/>
          </a:prstGeom>
          <a:noFill/>
          <a:ln w="25400">
            <a:solidFill>
              <a:srgbClr val="D5E0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" y="589788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6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target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874520" y="5824728"/>
            <a:ext cx="960120" cy="310896"/>
          </a:xfrm>
          <a:prstGeom prst="roundRect">
            <a:avLst>
              <a:gd name="adj" fmla="val 47059"/>
            </a:avLst>
          </a:prstGeom>
          <a:solidFill>
            <a:srgbClr val="0B7A9E">
              <a:alpha val="16000"/>
            </a:srgbClr>
          </a:solidFill>
          <a:ln w="12700">
            <a:solidFill>
              <a:srgbClr val="0B7A9E">
                <a:alpha val="6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65960" y="583387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944368" y="5824728"/>
            <a:ext cx="960120" cy="310896"/>
          </a:xfrm>
          <a:prstGeom prst="roundRect">
            <a:avLst>
              <a:gd name="adj" fmla="val 47059"/>
            </a:avLst>
          </a:prstGeom>
          <a:solidFill>
            <a:srgbClr val="3B4FCB">
              <a:alpha val="16000"/>
            </a:srgbClr>
          </a:solidFill>
          <a:ln w="12700">
            <a:solidFill>
              <a:srgbClr val="3B4FCB">
                <a:alpha val="6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035808" y="583387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4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014216" y="5824728"/>
            <a:ext cx="1051560" cy="310896"/>
          </a:xfrm>
          <a:prstGeom prst="roundRect">
            <a:avLst>
              <a:gd name="adj" fmla="val 47059"/>
            </a:avLst>
          </a:prstGeom>
          <a:solidFill>
            <a:srgbClr val="0E8A5F">
              <a:alpha val="16000"/>
            </a:srgbClr>
          </a:solidFill>
          <a:ln w="12700">
            <a:solidFill>
              <a:srgbClr val="0E8A5F">
                <a:alpha val="6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05656" y="583387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175504" y="5824728"/>
            <a:ext cx="777240" cy="310896"/>
          </a:xfrm>
          <a:prstGeom prst="roundRect">
            <a:avLst>
              <a:gd name="adj" fmla="val 47059"/>
            </a:avLst>
          </a:prstGeom>
          <a:solidFill>
            <a:srgbClr val="B4661A">
              <a:alpha val="16000"/>
            </a:srgbClr>
          </a:solidFill>
          <a:ln w="12700">
            <a:solidFill>
              <a:srgbClr val="B4661A">
                <a:alpha val="6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66944" y="583387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46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629400" y="5797296"/>
            <a:ext cx="4617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4E6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Mirrors the team's working MVP codebase: 20 FastAPI route modules, 18 service modules and a 17-table relational schema.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1228832" y="3474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E6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6476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4839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• USER EXPERIENCE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dashboard keeps the operator focused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21615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E6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 surface is organized around decisions, not technical complexity.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30352" y="1783080"/>
            <a:ext cx="11082528" cy="3959352"/>
          </a:xfrm>
          <a:prstGeom prst="roundRect">
            <a:avLst>
              <a:gd name="adj" fmla="val 4157"/>
            </a:avLst>
          </a:prstGeom>
          <a:solidFill>
            <a:srgbClr val="FFFFFF"/>
          </a:solidFill>
          <a:ln w="12700">
            <a:solidFill>
              <a:srgbClr val="D5E0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984248"/>
            <a:ext cx="1874520" cy="3547872"/>
          </a:xfrm>
          <a:prstGeom prst="roundRect">
            <a:avLst>
              <a:gd name="adj" fmla="val 6829"/>
            </a:avLst>
          </a:prstGeom>
          <a:solidFill>
            <a:srgbClr val="F4F7FB"/>
          </a:solidFill>
          <a:ln w="12700">
            <a:solidFill>
              <a:srgbClr val="D5E0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22219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LEADGENAI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" y="2679192"/>
            <a:ext cx="1417320" cy="320040"/>
          </a:xfrm>
          <a:prstGeom prst="roundRect">
            <a:avLst>
              <a:gd name="adj" fmla="val 28571"/>
            </a:avLst>
          </a:prstGeom>
          <a:solidFill>
            <a:srgbClr val="F4F7FB"/>
          </a:solidFill>
          <a:ln w="12700">
            <a:solidFill>
              <a:srgbClr val="D5E0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74320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E6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914400" y="3118104"/>
            <a:ext cx="1417320" cy="320040"/>
          </a:xfrm>
          <a:prstGeom prst="roundRect">
            <a:avLst>
              <a:gd name="adj" fmla="val 28571"/>
            </a:avLst>
          </a:prstGeom>
          <a:solidFill>
            <a:srgbClr val="F4F7FB"/>
          </a:solidFill>
          <a:ln w="12700">
            <a:solidFill>
              <a:srgbClr val="D5E0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318211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E6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14400" y="3557016"/>
            <a:ext cx="1417320" cy="320040"/>
          </a:xfrm>
          <a:prstGeom prst="roundRect">
            <a:avLst>
              <a:gd name="adj" fmla="val 28571"/>
            </a:avLst>
          </a:prstGeom>
          <a:solidFill>
            <a:srgbClr val="E9F0F9"/>
          </a:solidFill>
          <a:ln w="12700">
            <a:solidFill>
              <a:srgbClr val="0B7A9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362102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914400" y="3995928"/>
            <a:ext cx="1417320" cy="320040"/>
          </a:xfrm>
          <a:prstGeom prst="roundRect">
            <a:avLst>
              <a:gd name="adj" fmla="val 28571"/>
            </a:avLst>
          </a:prstGeom>
          <a:solidFill>
            <a:srgbClr val="F4F7FB"/>
          </a:solidFill>
          <a:ln w="12700">
            <a:solidFill>
              <a:srgbClr val="D5E0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405993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E6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14400" y="4434840"/>
            <a:ext cx="1417320" cy="320040"/>
          </a:xfrm>
          <a:prstGeom prst="roundRect">
            <a:avLst>
              <a:gd name="adj" fmla="val 28571"/>
            </a:avLst>
          </a:prstGeom>
          <a:solidFill>
            <a:srgbClr val="F4F7FB"/>
          </a:solidFill>
          <a:ln w="12700">
            <a:solidFill>
              <a:srgbClr val="D5E0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449884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E6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914400" y="4873752"/>
            <a:ext cx="1417320" cy="320040"/>
          </a:xfrm>
          <a:prstGeom prst="roundRect">
            <a:avLst>
              <a:gd name="adj" fmla="val 28571"/>
            </a:avLst>
          </a:prstGeom>
          <a:solidFill>
            <a:srgbClr val="F4F7FB"/>
          </a:solidFill>
          <a:ln w="12700">
            <a:solidFill>
              <a:srgbClr val="D5E0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1560" y="493776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E6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852928" y="1984248"/>
            <a:ext cx="8549640" cy="640080"/>
          </a:xfrm>
          <a:prstGeom prst="roundRect">
            <a:avLst>
              <a:gd name="adj" fmla="val 20000"/>
            </a:avLst>
          </a:prstGeom>
          <a:solidFill>
            <a:srgbClr val="F4F7FB"/>
          </a:solidFill>
          <a:ln w="12700">
            <a:solidFill>
              <a:srgbClr val="D5E0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54680" y="212140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Campaign: Hyderabad SMB Growth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381744" y="2130552"/>
            <a:ext cx="1572768" cy="310896"/>
          </a:xfrm>
          <a:prstGeom prst="roundRect">
            <a:avLst>
              <a:gd name="adj" fmla="val 47059"/>
            </a:avLst>
          </a:prstGeom>
          <a:solidFill>
            <a:srgbClr val="0B7A9E">
              <a:alpha val="16000"/>
            </a:srgbClr>
          </a:solidFill>
          <a:ln w="12700">
            <a:solidFill>
              <a:srgbClr val="0B7A9E">
                <a:alpha val="6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73184" y="2139696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 REVIEWABLE LEADS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852928" y="2788920"/>
            <a:ext cx="2606040" cy="841248"/>
          </a:xfrm>
          <a:prstGeom prst="roundRect">
            <a:avLst>
              <a:gd name="adj" fmla="val 14130"/>
            </a:avLst>
          </a:prstGeom>
          <a:solidFill>
            <a:srgbClr val="F4F7FB"/>
          </a:solidFill>
          <a:ln w="12700">
            <a:solidFill>
              <a:srgbClr val="D5E0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17520" y="294436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E6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leads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017520" y="326440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score + reason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733288" y="2788920"/>
            <a:ext cx="2606040" cy="841248"/>
          </a:xfrm>
          <a:prstGeom prst="roundRect">
            <a:avLst>
              <a:gd name="adj" fmla="val 14130"/>
            </a:avLst>
          </a:prstGeom>
          <a:solidFill>
            <a:srgbClr val="F4F7FB"/>
          </a:solidFill>
          <a:ln w="12700">
            <a:solidFill>
              <a:srgbClr val="D5E0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294436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E6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ready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897880" y="326440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context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613648" y="2788920"/>
            <a:ext cx="2606040" cy="841248"/>
          </a:xfrm>
          <a:prstGeom prst="roundRect">
            <a:avLst>
              <a:gd name="adj" fmla="val 14130"/>
            </a:avLst>
          </a:prstGeom>
          <a:solidFill>
            <a:srgbClr val="F4F7FB"/>
          </a:solidFill>
          <a:ln w="12700">
            <a:solidFill>
              <a:srgbClr val="D5E0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778240" y="294436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E6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pending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778240" y="326440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46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approval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852928" y="3822192"/>
            <a:ext cx="8549640" cy="1618488"/>
          </a:xfrm>
          <a:prstGeom prst="roundRect">
            <a:avLst>
              <a:gd name="adj" fmla="val 7345"/>
            </a:avLst>
          </a:prstGeom>
          <a:solidFill>
            <a:srgbClr val="F4F7FB"/>
          </a:solidFill>
          <a:ln w="12700">
            <a:solidFill>
              <a:srgbClr val="D5E0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054096" y="399592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6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486400" y="399592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6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400800" y="3995928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6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OUTREACH ANGLE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9692640" y="399592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6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017520" y="4288536"/>
            <a:ext cx="8092440" cy="0"/>
          </a:xfrm>
          <a:prstGeom prst="line">
            <a:avLst/>
          </a:prstGeom>
          <a:noFill/>
          <a:ln w="12700">
            <a:solidFill>
              <a:srgbClr val="D5E0E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54096" y="433425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Co.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486400" y="433425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400800" y="4334256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4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lead-response time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9674352" y="4288536"/>
            <a:ext cx="1143000" cy="310896"/>
          </a:xfrm>
          <a:prstGeom prst="roundRect">
            <a:avLst>
              <a:gd name="adj" fmla="val 47059"/>
            </a:avLst>
          </a:prstGeom>
          <a:solidFill>
            <a:srgbClr val="3B4FCB">
              <a:alpha val="16000"/>
            </a:srgbClr>
          </a:solidFill>
          <a:ln w="12700">
            <a:solidFill>
              <a:srgbClr val="3B4FCB">
                <a:alpha val="6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765792" y="429768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4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017520" y="4599432"/>
            <a:ext cx="8092440" cy="0"/>
          </a:xfrm>
          <a:prstGeom prst="line">
            <a:avLst/>
          </a:prstGeom>
          <a:noFill/>
          <a:ln w="12700">
            <a:solidFill>
              <a:srgbClr val="D5E0E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054096" y="464515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Labs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486400" y="464515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46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400800" y="4645152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4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Streamline qualification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9674352" y="4599432"/>
            <a:ext cx="1143000" cy="310896"/>
          </a:xfrm>
          <a:prstGeom prst="roundRect">
            <a:avLst>
              <a:gd name="adj" fmla="val 47059"/>
            </a:avLst>
          </a:prstGeom>
          <a:solidFill>
            <a:srgbClr val="3B4FCB">
              <a:alpha val="16000"/>
            </a:srgbClr>
          </a:solidFill>
          <a:ln w="12700">
            <a:solidFill>
              <a:srgbClr val="3B4FCB">
                <a:alpha val="60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765792" y="4608576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4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017520" y="4910328"/>
            <a:ext cx="8092440" cy="0"/>
          </a:xfrm>
          <a:prstGeom prst="line">
            <a:avLst/>
          </a:prstGeom>
          <a:noFill/>
          <a:ln w="12700">
            <a:solidFill>
              <a:srgbClr val="D5E0E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054096" y="495604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Northstar Tech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486400" y="495604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400800" y="4956048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4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inbound conversion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9674352" y="4910328"/>
            <a:ext cx="1143000" cy="310896"/>
          </a:xfrm>
          <a:prstGeom prst="roundRect">
            <a:avLst>
              <a:gd name="adj" fmla="val 47059"/>
            </a:avLst>
          </a:prstGeom>
          <a:solidFill>
            <a:srgbClr val="0E8A5F">
              <a:alpha val="16000"/>
            </a:srgbClr>
          </a:solidFill>
          <a:ln w="12700">
            <a:solidFill>
              <a:srgbClr val="0E8A5F">
                <a:alpha val="60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765792" y="491947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40080" y="587959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4E6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UI mock-up — not measured benchmark data.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11228832" y="3474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E6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6476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4839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• IMPACT &amp; EVALUATION FIT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match what the judges score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21615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E6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proposal directly addresses innovation, implementation, problem-solving, UX and scalability.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1682496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&amp; Creativity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0" y="1709928"/>
            <a:ext cx="6583680" cy="493776"/>
          </a:xfrm>
          <a:prstGeom prst="roundRect">
            <a:avLst>
              <a:gd name="adj" fmla="val 22222"/>
            </a:avLst>
          </a:prstGeom>
          <a:solidFill>
            <a:srgbClr val="F4F7FB"/>
          </a:solidFill>
          <a:ln w="12700">
            <a:solidFill>
              <a:srgbClr val="D5E0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0" y="1709928"/>
            <a:ext cx="6583680" cy="493776"/>
          </a:xfrm>
          <a:prstGeom prst="roundRect">
            <a:avLst>
              <a:gd name="adj" fmla="val 18519"/>
            </a:avLst>
          </a:prstGeom>
          <a:solidFill>
            <a:srgbClr val="0B7A9E"/>
          </a:solidFill>
          <a:ln w="12700">
            <a:solidFill>
              <a:srgbClr val="0B7A9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46704" y="1773936"/>
            <a:ext cx="6245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AI workflow around discovery, explainability and approvals.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222992" y="175564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" y="2523744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Implementation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2551176"/>
            <a:ext cx="6583680" cy="493776"/>
          </a:xfrm>
          <a:prstGeom prst="roundRect">
            <a:avLst>
              <a:gd name="adj" fmla="val 22222"/>
            </a:avLst>
          </a:prstGeom>
          <a:solidFill>
            <a:srgbClr val="F4F7FB"/>
          </a:solidFill>
          <a:ln w="12700">
            <a:solidFill>
              <a:srgbClr val="D5E0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2551176"/>
            <a:ext cx="6583680" cy="493776"/>
          </a:xfrm>
          <a:prstGeom prst="roundRect">
            <a:avLst>
              <a:gd name="adj" fmla="val 18519"/>
            </a:avLst>
          </a:prstGeom>
          <a:solidFill>
            <a:srgbClr val="3B4FCB"/>
          </a:solidFill>
          <a:ln w="12700">
            <a:solidFill>
              <a:srgbClr val="3B4F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46704" y="2615184"/>
            <a:ext cx="6245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architecture with modular integrations and deployable services.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222992" y="2596896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B4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66928" y="336499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Problem-Solving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0" y="3392424"/>
            <a:ext cx="6583680" cy="493776"/>
          </a:xfrm>
          <a:prstGeom prst="roundRect">
            <a:avLst>
              <a:gd name="adj" fmla="val 22222"/>
            </a:avLst>
          </a:prstGeom>
          <a:solidFill>
            <a:srgbClr val="F4F7FB"/>
          </a:solidFill>
          <a:ln w="12700">
            <a:solidFill>
              <a:srgbClr val="D5E0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3392424"/>
            <a:ext cx="5266944" cy="493776"/>
          </a:xfrm>
          <a:prstGeom prst="roundRect">
            <a:avLst>
              <a:gd name="adj" fmla="val 18519"/>
            </a:avLst>
          </a:prstGeom>
          <a:solidFill>
            <a:srgbClr val="0E8A5F"/>
          </a:solidFill>
          <a:ln w="12700">
            <a:solidFill>
              <a:srgbClr val="0E8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46704" y="3456432"/>
            <a:ext cx="6245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repetitive research, qualification and drafting work.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222992" y="343814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66928" y="420624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&amp; Design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0" y="4233672"/>
            <a:ext cx="6583680" cy="493776"/>
          </a:xfrm>
          <a:prstGeom prst="roundRect">
            <a:avLst>
              <a:gd name="adj" fmla="val 22222"/>
            </a:avLst>
          </a:prstGeom>
          <a:solidFill>
            <a:srgbClr val="F4F7FB"/>
          </a:solidFill>
          <a:ln w="12700">
            <a:solidFill>
              <a:srgbClr val="D5E0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0" y="4233672"/>
            <a:ext cx="3950208" cy="493776"/>
          </a:xfrm>
          <a:prstGeom prst="roundRect">
            <a:avLst>
              <a:gd name="adj" fmla="val 18519"/>
            </a:avLst>
          </a:prstGeom>
          <a:solidFill>
            <a:srgbClr val="B4661A"/>
          </a:solidFill>
          <a:ln w="12700">
            <a:solidFill>
              <a:srgbClr val="B466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46704" y="4297680"/>
            <a:ext cx="6245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workspace with clear review states and next actions.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222992" y="427939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46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66928" y="5047488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&amp; Impact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200400" y="5074920"/>
            <a:ext cx="6583680" cy="493776"/>
          </a:xfrm>
          <a:prstGeom prst="roundRect">
            <a:avLst>
              <a:gd name="adj" fmla="val 22222"/>
            </a:avLst>
          </a:prstGeom>
          <a:solidFill>
            <a:srgbClr val="F4F7FB"/>
          </a:solidFill>
          <a:ln w="12700">
            <a:solidFill>
              <a:srgbClr val="D5E0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0" y="5074920"/>
            <a:ext cx="3950208" cy="493776"/>
          </a:xfrm>
          <a:prstGeom prst="roundRect">
            <a:avLst>
              <a:gd name="adj" fmla="val 18519"/>
            </a:avLst>
          </a:prstGeom>
          <a:solidFill>
            <a:srgbClr val="CE3D5E"/>
          </a:solidFill>
          <a:ln w="12700">
            <a:solidFill>
              <a:srgbClr val="CE3D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46704" y="5138928"/>
            <a:ext cx="6245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for multiple industries, teams and campaign types.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222992" y="512064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E3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66928" y="5989320"/>
            <a:ext cx="11045952" cy="320040"/>
          </a:xfrm>
          <a:prstGeom prst="roundRect">
            <a:avLst>
              <a:gd name="adj" fmla="val 28571"/>
            </a:avLst>
          </a:prstGeom>
          <a:solidFill>
            <a:srgbClr val="E9F0F9"/>
          </a:solidFill>
          <a:ln w="12700">
            <a:solidFill>
              <a:srgbClr val="D5E0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9808" y="6062472"/>
            <a:ext cx="10652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impact: faster prospecting • better lead focus • stronger personalization • measurable outreach workflow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1228832" y="3474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E6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6476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4839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• ROADMAP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idea to production-level build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21615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E6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focused path for Round 2 and Round 3.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30352" y="1828800"/>
            <a:ext cx="3401568" cy="3456432"/>
          </a:xfrm>
          <a:prstGeom prst="roundRect">
            <a:avLst>
              <a:gd name="adj" fmla="val 4839"/>
            </a:avLst>
          </a:prstGeom>
          <a:solidFill>
            <a:srgbClr val="F4F7FB"/>
          </a:solidFill>
          <a:ln w="12700">
            <a:solidFill>
              <a:srgbClr val="D5E0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057400"/>
            <a:ext cx="1069848" cy="310896"/>
          </a:xfrm>
          <a:prstGeom prst="roundRect">
            <a:avLst>
              <a:gd name="adj" fmla="val 47059"/>
            </a:avLst>
          </a:prstGeom>
          <a:solidFill>
            <a:srgbClr val="0B7A9E">
              <a:alpha val="16000"/>
            </a:srgbClr>
          </a:solidFill>
          <a:ln w="12700">
            <a:solidFill>
              <a:srgbClr val="0B7A9E">
                <a:alpha val="6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66544"/>
            <a:ext cx="886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254203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SUBMISSION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" y="3145536"/>
            <a:ext cx="91440" cy="91440"/>
          </a:xfrm>
          <a:prstGeom prst="ellipse">
            <a:avLst/>
          </a:prstGeom>
          <a:solidFill>
            <a:srgbClr val="0B7A9E"/>
          </a:solidFill>
          <a:ln w="12700">
            <a:solidFill>
              <a:srgbClr val="0B7A9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310896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24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validation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3602736"/>
            <a:ext cx="91440" cy="91440"/>
          </a:xfrm>
          <a:prstGeom prst="ellipse">
            <a:avLst/>
          </a:prstGeom>
          <a:solidFill>
            <a:srgbClr val="0B7A9E"/>
          </a:solidFill>
          <a:ln w="12700">
            <a:solidFill>
              <a:srgbClr val="0B7A9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356616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24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+ features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4059936"/>
            <a:ext cx="91440" cy="91440"/>
          </a:xfrm>
          <a:prstGeom prst="ellipse">
            <a:avLst/>
          </a:prstGeom>
          <a:solidFill>
            <a:srgbClr val="0B7A9E"/>
          </a:solidFill>
          <a:ln w="12700">
            <a:solidFill>
              <a:srgbClr val="0B7A9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402336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24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4517136"/>
            <a:ext cx="91440" cy="91440"/>
          </a:xfrm>
          <a:prstGeom prst="ellipse">
            <a:avLst/>
          </a:prstGeom>
          <a:solidFill>
            <a:srgbClr val="0B7A9E"/>
          </a:solidFill>
          <a:ln w="12700">
            <a:solidFill>
              <a:srgbClr val="0B7A9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" y="448056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24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+ differentiation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297680" y="1828800"/>
            <a:ext cx="3401568" cy="3456432"/>
          </a:xfrm>
          <a:prstGeom prst="roundRect">
            <a:avLst>
              <a:gd name="adj" fmla="val 4839"/>
            </a:avLst>
          </a:prstGeom>
          <a:solidFill>
            <a:srgbClr val="F4F7FB"/>
          </a:solidFill>
          <a:ln w="12700">
            <a:solidFill>
              <a:srgbClr val="D5E0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98848" y="2057400"/>
            <a:ext cx="1069848" cy="310896"/>
          </a:xfrm>
          <a:prstGeom prst="roundRect">
            <a:avLst>
              <a:gd name="adj" fmla="val 47059"/>
            </a:avLst>
          </a:prstGeom>
          <a:solidFill>
            <a:srgbClr val="3B4FCB">
              <a:alpha val="16000"/>
            </a:srgbClr>
          </a:solidFill>
          <a:ln w="12700">
            <a:solidFill>
              <a:srgbClr val="3B4FCB">
                <a:alpha val="6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90288" y="2066544"/>
            <a:ext cx="886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4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498848" y="254203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BUILD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498848" y="3145536"/>
            <a:ext cx="91440" cy="91440"/>
          </a:xfrm>
          <a:prstGeom prst="ellipse">
            <a:avLst/>
          </a:prstGeom>
          <a:solidFill>
            <a:srgbClr val="3B4FCB"/>
          </a:solidFill>
          <a:ln w="12700">
            <a:solidFill>
              <a:srgbClr val="3B4F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310896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24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dashboard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498848" y="3602736"/>
            <a:ext cx="91440" cy="91440"/>
          </a:xfrm>
          <a:prstGeom prst="ellipse">
            <a:avLst/>
          </a:prstGeom>
          <a:solidFill>
            <a:srgbClr val="3B4FCB"/>
          </a:solidFill>
          <a:ln w="12700">
            <a:solidFill>
              <a:srgbClr val="3B4FC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356616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24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 + DB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498848" y="4059936"/>
            <a:ext cx="91440" cy="91440"/>
          </a:xfrm>
          <a:prstGeom prst="ellipse">
            <a:avLst/>
          </a:prstGeom>
          <a:solidFill>
            <a:srgbClr val="3B4FCB"/>
          </a:solidFill>
          <a:ln w="12700">
            <a:solidFill>
              <a:srgbClr val="3B4FC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402336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24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RAG + scoring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498848" y="4517136"/>
            <a:ext cx="91440" cy="91440"/>
          </a:xfrm>
          <a:prstGeom prst="ellipse">
            <a:avLst/>
          </a:prstGeom>
          <a:solidFill>
            <a:srgbClr val="3B4FCB"/>
          </a:solidFill>
          <a:ln w="12700">
            <a:solidFill>
              <a:srgbClr val="3B4FC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448056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24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Search-API discovery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498848" y="4974336"/>
            <a:ext cx="91440" cy="91440"/>
          </a:xfrm>
          <a:prstGeom prst="ellipse">
            <a:avLst/>
          </a:prstGeom>
          <a:solidFill>
            <a:srgbClr val="3B4FCB"/>
          </a:solidFill>
          <a:ln w="12700">
            <a:solidFill>
              <a:srgbClr val="3B4FC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0" y="493776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24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+ analytics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065008" y="1828800"/>
            <a:ext cx="3401568" cy="3456432"/>
          </a:xfrm>
          <a:prstGeom prst="roundRect">
            <a:avLst>
              <a:gd name="adj" fmla="val 4839"/>
            </a:avLst>
          </a:prstGeom>
          <a:solidFill>
            <a:srgbClr val="F4F7FB"/>
          </a:solidFill>
          <a:ln w="12700">
            <a:solidFill>
              <a:srgbClr val="D5E0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66176" y="2057400"/>
            <a:ext cx="1069848" cy="310896"/>
          </a:xfrm>
          <a:prstGeom prst="roundRect">
            <a:avLst>
              <a:gd name="adj" fmla="val 47059"/>
            </a:avLst>
          </a:prstGeom>
          <a:solidFill>
            <a:srgbClr val="0E8A5F">
              <a:alpha val="16000"/>
            </a:srgbClr>
          </a:solidFill>
          <a:ln w="12700">
            <a:solidFill>
              <a:srgbClr val="0E8A5F">
                <a:alpha val="6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57616" y="2066544"/>
            <a:ext cx="886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3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266176" y="254203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8266176" y="3145536"/>
            <a:ext cx="91440" cy="91440"/>
          </a:xfrm>
          <a:prstGeom prst="ellipse">
            <a:avLst/>
          </a:prstGeom>
          <a:solidFill>
            <a:srgbClr val="0E8A5F"/>
          </a:solidFill>
          <a:ln w="12700">
            <a:solidFill>
              <a:srgbClr val="0E8A5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30768" y="310896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24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campaign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266176" y="3602736"/>
            <a:ext cx="91440" cy="91440"/>
          </a:xfrm>
          <a:prstGeom prst="ellipse">
            <a:avLst/>
          </a:prstGeom>
          <a:solidFill>
            <a:srgbClr val="0E8A5F"/>
          </a:solidFill>
          <a:ln w="12700">
            <a:solidFill>
              <a:srgbClr val="0E8A5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30768" y="356616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24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auth + hardening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266176" y="4059936"/>
            <a:ext cx="91440" cy="91440"/>
          </a:xfrm>
          <a:prstGeom prst="ellipse">
            <a:avLst/>
          </a:prstGeom>
          <a:solidFill>
            <a:srgbClr val="0E8A5F"/>
          </a:solidFill>
          <a:ln w="12700">
            <a:solidFill>
              <a:srgbClr val="0E8A5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430768" y="402336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24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video + docs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266176" y="4517136"/>
            <a:ext cx="91440" cy="91440"/>
          </a:xfrm>
          <a:prstGeom prst="ellipse">
            <a:avLst/>
          </a:prstGeom>
          <a:solidFill>
            <a:srgbClr val="0E8A5F"/>
          </a:solidFill>
          <a:ln w="12700">
            <a:solidFill>
              <a:srgbClr val="0E8A5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430768" y="448056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24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Q&amp;A readiness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94360" y="565099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4E6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submission window shown on the event page: 16–18 Aug 2026.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217920" y="5650992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submit a clear concept now, then ship a working MVP for Round 2.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1228832" y="3474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E6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6476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4839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D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7A9E"/>
          </a:solidFill>
          <a:ln w="12700">
            <a:solidFill>
              <a:srgbClr val="0B7A9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5669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AVENGERS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100584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F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behind the build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66928" y="162763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E6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members • one end-to-end product vision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2331720"/>
            <a:ext cx="3401568" cy="1938528"/>
          </a:xfrm>
          <a:prstGeom prst="roundRect">
            <a:avLst>
              <a:gd name="adj" fmla="val 8491"/>
            </a:avLst>
          </a:prstGeom>
          <a:solidFill>
            <a:srgbClr val="FFFFFF"/>
          </a:solidFill>
          <a:ln w="12700">
            <a:solidFill>
              <a:srgbClr val="D5E0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2670048"/>
            <a:ext cx="640080" cy="640080"/>
          </a:xfrm>
          <a:prstGeom prst="ellipse">
            <a:avLst/>
          </a:prstGeom>
          <a:solidFill>
            <a:srgbClr val="0B7A9E"/>
          </a:solidFill>
          <a:ln w="12700">
            <a:solidFill>
              <a:srgbClr val="0B7A9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28529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664208" y="266090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 Gautam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664208" y="306324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41248" y="3538728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E6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+ product direction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389120" y="2331720"/>
            <a:ext cx="3401568" cy="1938528"/>
          </a:xfrm>
          <a:prstGeom prst="roundRect">
            <a:avLst>
              <a:gd name="adj" fmla="val 8491"/>
            </a:avLst>
          </a:prstGeom>
          <a:solidFill>
            <a:srgbClr val="FFFFFF"/>
          </a:solidFill>
          <a:ln w="12700">
            <a:solidFill>
              <a:srgbClr val="D5E0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2670048"/>
            <a:ext cx="640080" cy="640080"/>
          </a:xfrm>
          <a:prstGeom prst="ellipse">
            <a:avLst/>
          </a:prstGeom>
          <a:solidFill>
            <a:srgbClr val="3B4FCB"/>
          </a:solidFill>
          <a:ln w="12700">
            <a:solidFill>
              <a:srgbClr val="3B4F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28529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0" y="266090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Priyanshu Kumar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0" y="306324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B4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63440" y="3538728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E6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+ implementation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211312" y="2331720"/>
            <a:ext cx="3401568" cy="1938528"/>
          </a:xfrm>
          <a:prstGeom prst="roundRect">
            <a:avLst>
              <a:gd name="adj" fmla="val 8491"/>
            </a:avLst>
          </a:prstGeom>
          <a:solidFill>
            <a:srgbClr val="FFFFFF"/>
          </a:solidFill>
          <a:ln w="12700">
            <a:solidFill>
              <a:srgbClr val="D5E0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85632" y="2670048"/>
            <a:ext cx="640080" cy="640080"/>
          </a:xfrm>
          <a:prstGeom prst="ellipse">
            <a:avLst/>
          </a:prstGeom>
          <a:solidFill>
            <a:srgbClr val="0E8A5F"/>
          </a:solidFill>
          <a:ln w="12700">
            <a:solidFill>
              <a:srgbClr val="0E8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85632" y="28529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308592" y="266090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Sampath Kumar Midde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308592" y="306324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485632" y="3538728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E6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data + product engineering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66928" y="4736592"/>
            <a:ext cx="11064240" cy="914400"/>
          </a:xfrm>
          <a:prstGeom prst="roundRect">
            <a:avLst>
              <a:gd name="adj" fmla="val 18000"/>
            </a:avLst>
          </a:prstGeom>
          <a:solidFill>
            <a:srgbClr val="E9F0F9"/>
          </a:solidFill>
          <a:ln w="12700">
            <a:solidFill>
              <a:srgbClr val="D5E0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4672" y="497433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LEADGENAI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2514600" y="4974336"/>
            <a:ext cx="6903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F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smarter. Prioritize better. Reach out with context.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9098280" y="501091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4E6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Prasunethon 2.0 • 2026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66928" y="596188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F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9144000" y="6007608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B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• Idea Submission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28832" y="3474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E6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6476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4839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Team Avengers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LeadGenAI — Intelligent B2B Lead Discovery &amp; Outreach Copilot</dc:title>
  <dc:subject>Prasunethon 2.0 - Idea Submission</dc:subject>
  <dc:creator>Team Avengers</dc:creator>
  <cp:lastModifiedBy>Team Avengers</cp:lastModifiedBy>
  <cp:revision>1</cp:revision>
  <dcterms:created xsi:type="dcterms:W3CDTF">2026-08-16T20:43:03Z</dcterms:created>
  <dcterms:modified xsi:type="dcterms:W3CDTF">2026-08-16T20:43:03Z</dcterms:modified>
</cp:coreProperties>
</file>